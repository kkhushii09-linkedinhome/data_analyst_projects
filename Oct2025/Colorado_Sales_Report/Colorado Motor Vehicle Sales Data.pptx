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3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22DE4-1585-4310-AF15-056045E47F9B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178A6-BBEB-4A6C-B511-EE6E2178C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70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61E45E3-5B62-4043-8BAB-43F8D5F68E46}" type="datetime1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23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625" y="103726"/>
            <a:ext cx="10396882" cy="498470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685800" y="706582"/>
            <a:ext cx="10394707" cy="4668003"/>
          </a:xfrm>
        </p:spPr>
        <p:txBody>
          <a:bodyPr anchor="t"/>
          <a:lstStyle>
            <a:lvl1pPr marL="0" indent="0">
              <a:buNone/>
              <a:defRPr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92691" y="5638800"/>
            <a:ext cx="807360" cy="658568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1516C007-6EBF-4D7D-A9BF-157D71EC897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4A18-1DBB-45AF-AE8B-6E9A185004AB}" type="datetime1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90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190C5-3995-492C-9955-208B085ED5CA}" type="datetime1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78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9ACCA-39FD-4E3A-9F88-1C634E2A045E}" type="datetime1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044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5155-A444-4EC5-B383-0326ED5D9046}" type="datetime1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09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ED90-9040-4E5E-BA15-FDA7DDEEB90F}" type="datetime1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F25E-7C48-4D0C-9534-B2A3012E5BCD}" type="datetime1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31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F2CA-4031-467B-9EF0-886631DFAD56}" type="datetime1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64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D91D-4D4F-4AC0-BF19-7DAEAC060FC3}" type="datetime1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691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728E-121B-4D7A-AFAB-D11C76FFBD03}" type="datetime1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798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B56B-1827-4493-9152-AB1A0380C698}" type="datetime1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8890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23745-446E-4943-BEFE-1599E9CA76CF}" type="datetime1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489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F797E-10D3-4938-A252-CC288B944CF2}" type="datetime1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04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80FF-A3BD-40DB-8FB2-187D067928AD}" type="datetime1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416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C3761-B29C-431E-866A-EA7B2DB20B84}" type="datetime1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350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B385C-E2E1-4870-B970-C4FFB0BAD6DB}" type="datetime1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787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00F611F-E86D-4397-9894-39B3F73D4C0B}" type="datetime1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516C007-6EBF-4D7D-A9BF-157D71EC8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77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D8AC-80DE-D03E-3B38-92C9D5B24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dirty="0"/>
              <a:t>Colorado Motor Vehicle Sales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26766-8FA0-57B7-CA1F-EA9068B2A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accent3"/>
          </a:solidFill>
        </p:spPr>
        <p:txBody>
          <a:bodyPr/>
          <a:lstStyle/>
          <a:p>
            <a:r>
              <a:rPr lang="en-IN" dirty="0"/>
              <a:t>By Madhumita Patro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985B6-104F-A07A-E0D3-C9F2A072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981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2FEC-5228-BED7-9140-D12964A19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About 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7A2DC-61C2-9EDB-BB5C-DBE0ECAD924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t"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dataset contains information on motor vehicle sales in various counties across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Colorado, segmented by year and quarter.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data is useful for analyzing trends in vehicle sales, understanding the economic impact of automotive transactions, and making informed decisions in related business or policy planning.</a:t>
            </a:r>
            <a:endParaRPr lang="en-IN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5214F-4D50-FED0-7121-42C5C4C5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97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382B4-2ABE-4F3F-850B-F382D3C6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0EB40-9C8B-0BFB-E105-A0BBD90994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● </a:t>
            </a:r>
            <a:r>
              <a:rPr lang="en-US" b="1" dirty="0"/>
              <a:t>Year</a:t>
            </a:r>
            <a:r>
              <a:rPr lang="en-US" dirty="0"/>
              <a:t>: The calendar year in which the sales data was recorded.</a:t>
            </a:r>
          </a:p>
          <a:p>
            <a:r>
              <a:rPr lang="en-US" dirty="0"/>
              <a:t>● </a:t>
            </a:r>
            <a:r>
              <a:rPr lang="en-US" b="1" dirty="0"/>
              <a:t>Quarter</a:t>
            </a:r>
            <a:r>
              <a:rPr lang="en-US" dirty="0"/>
              <a:t>: The quarter of the year during which the sales were made. The quarters</a:t>
            </a:r>
          </a:p>
          <a:p>
            <a:r>
              <a:rPr lang="en-IN" dirty="0"/>
              <a:t>are divided as follows:</a:t>
            </a:r>
          </a:p>
          <a:p>
            <a:r>
              <a:rPr lang="en-IN" dirty="0"/>
              <a:t>○ Q1: January to March</a:t>
            </a:r>
          </a:p>
          <a:p>
            <a:r>
              <a:rPr lang="en-IN" dirty="0"/>
              <a:t>○ Q2: April to June</a:t>
            </a:r>
          </a:p>
          <a:p>
            <a:r>
              <a:rPr lang="en-IN" dirty="0"/>
              <a:t>○ Q3: July to September</a:t>
            </a:r>
          </a:p>
          <a:p>
            <a:r>
              <a:rPr lang="en-IN" dirty="0"/>
              <a:t>○ Q4: October to December</a:t>
            </a:r>
          </a:p>
          <a:p>
            <a:r>
              <a:rPr lang="en-US" dirty="0"/>
              <a:t>● </a:t>
            </a:r>
            <a:r>
              <a:rPr lang="en-US" b="1" dirty="0"/>
              <a:t>County</a:t>
            </a:r>
            <a:r>
              <a:rPr lang="en-US" dirty="0"/>
              <a:t>: The name of the county in Colorado where the sales were recorded.</a:t>
            </a:r>
          </a:p>
          <a:p>
            <a:r>
              <a:rPr lang="en-US" dirty="0"/>
              <a:t>● </a:t>
            </a:r>
            <a:r>
              <a:rPr lang="en-US" b="1" dirty="0"/>
              <a:t>Sales</a:t>
            </a:r>
            <a:r>
              <a:rPr lang="en-US" dirty="0"/>
              <a:t>: The total dollar amount of motor vehicle sales in the specified county and</a:t>
            </a:r>
          </a:p>
          <a:p>
            <a:r>
              <a:rPr lang="en-IN" dirty="0"/>
              <a:t>quarter.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2A4CF-2271-D995-873D-91DBCB33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35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A493-CF32-D2AB-17E3-796CD2351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3EB62-A08C-A8E3-4E27-E83F37A42AC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Economic Analysis</a:t>
            </a:r>
            <a:r>
              <a:rPr lang="en-US" dirty="0"/>
              <a:t>: Track the economic health and trends in the automotive</a:t>
            </a:r>
          </a:p>
          <a:p>
            <a:r>
              <a:rPr lang="en-IN" dirty="0"/>
              <a:t>market within Colorado.</a:t>
            </a:r>
          </a:p>
          <a:p>
            <a:r>
              <a:rPr lang="en-US" dirty="0"/>
              <a:t>● </a:t>
            </a:r>
            <a:r>
              <a:rPr lang="en-US" b="1" dirty="0"/>
              <a:t>Market Research</a:t>
            </a:r>
            <a:r>
              <a:rPr lang="en-US" dirty="0"/>
              <a:t>: Identify sales patterns and market demands in different</a:t>
            </a:r>
          </a:p>
          <a:p>
            <a:r>
              <a:rPr lang="en-IN" dirty="0"/>
              <a:t>counties.</a:t>
            </a:r>
          </a:p>
          <a:p>
            <a:r>
              <a:rPr lang="en-US" dirty="0"/>
              <a:t>● </a:t>
            </a:r>
            <a:r>
              <a:rPr lang="en-US" b="1" dirty="0"/>
              <a:t>Policy Making</a:t>
            </a:r>
            <a:r>
              <a:rPr lang="en-US" dirty="0"/>
              <a:t>: Inform decisions on automotive industry regulations and</a:t>
            </a:r>
          </a:p>
          <a:p>
            <a:r>
              <a:rPr lang="en-IN" dirty="0"/>
              <a:t>infrastructure planning.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6879E-27E4-E408-0A8A-D6913882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81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F53A-81A5-D68B-21EA-497130B8A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F4E84-9E87-5F74-5F42-F327124B04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Objective: To analyze motor vehicle sales data in Colorado to identify trends, forecast</a:t>
            </a:r>
          </a:p>
          <a:p>
            <a:r>
              <a:rPr lang="en-US" dirty="0"/>
              <a:t>future sales and understand the factors influencing sales.</a:t>
            </a:r>
          </a:p>
          <a:p>
            <a:r>
              <a:rPr lang="en-IN" b="1" dirty="0"/>
              <a:t>Steps to Follow:</a:t>
            </a:r>
          </a:p>
          <a:p>
            <a:r>
              <a:rPr lang="en-US" dirty="0"/>
              <a:t>1. </a:t>
            </a:r>
            <a:r>
              <a:rPr lang="en-US" b="1" dirty="0"/>
              <a:t>Define the Scope and Objective</a:t>
            </a:r>
            <a:r>
              <a:rPr lang="en-US" dirty="0"/>
              <a:t>:</a:t>
            </a:r>
          </a:p>
          <a:p>
            <a:r>
              <a:rPr lang="en-US" dirty="0"/>
              <a:t>○ Identify the key metrics and objectives for the analysis (e.g., monthly sales</a:t>
            </a:r>
          </a:p>
          <a:p>
            <a:r>
              <a:rPr lang="en-US" dirty="0"/>
              <a:t>trends, sales by vehicle type, forecast future sales).</a:t>
            </a:r>
          </a:p>
          <a:p>
            <a:r>
              <a:rPr lang="en-US" dirty="0"/>
              <a:t>○ Define the time frame for the analysis.</a:t>
            </a:r>
          </a:p>
          <a:p>
            <a:r>
              <a:rPr lang="en-IN" dirty="0"/>
              <a:t>2. </a:t>
            </a:r>
            <a:r>
              <a:rPr lang="en-IN" b="1" dirty="0"/>
              <a:t>Data Collection</a:t>
            </a:r>
            <a:r>
              <a:rPr lang="en-IN" dirty="0"/>
              <a:t>:</a:t>
            </a:r>
          </a:p>
          <a:p>
            <a:r>
              <a:rPr lang="en-US" dirty="0"/>
              <a:t>○ Gather motor vehicle sales data from reliable sources.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C13F3-DF1B-BF0F-2664-C5EBB196F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78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F45A-B2E0-C4BD-7223-FD135515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66672-782A-5139-B21F-F4C90ECA16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/>
              <a:t>3. </a:t>
            </a:r>
            <a:r>
              <a:rPr lang="en-IN" b="1" dirty="0"/>
              <a:t>Data Preparation</a:t>
            </a:r>
            <a:r>
              <a:rPr lang="en-IN" dirty="0"/>
              <a:t>:</a:t>
            </a:r>
          </a:p>
          <a:p>
            <a:r>
              <a:rPr lang="en-US" dirty="0"/>
              <a:t>○ Clean the data to remove any inconsistencies or errors.</a:t>
            </a:r>
          </a:p>
          <a:p>
            <a:r>
              <a:rPr lang="en-US" dirty="0"/>
              <a:t>○ Prepare the data for analysis using tools like Pandas.</a:t>
            </a:r>
          </a:p>
          <a:p>
            <a:r>
              <a:rPr lang="en-US" dirty="0"/>
              <a:t>4. </a:t>
            </a:r>
            <a:r>
              <a:rPr lang="en-US" b="1" dirty="0"/>
              <a:t>Exploratory Data Analysis (EDA)</a:t>
            </a:r>
            <a:r>
              <a:rPr lang="en-US" dirty="0"/>
              <a:t>:</a:t>
            </a:r>
          </a:p>
          <a:p>
            <a:r>
              <a:rPr lang="en-US" dirty="0"/>
              <a:t>○ Perform EDA to understand the data distribution and identify patterns.</a:t>
            </a:r>
          </a:p>
          <a:p>
            <a:r>
              <a:rPr lang="en-US" dirty="0"/>
              <a:t>○ Use visualization tools like Matplotlib and Seaborn to visualize the data.</a:t>
            </a:r>
          </a:p>
          <a:p>
            <a:r>
              <a:rPr lang="en-IN" dirty="0"/>
              <a:t>5. </a:t>
            </a:r>
            <a:r>
              <a:rPr lang="en-IN" b="1" dirty="0"/>
              <a:t>Statistical Analysis</a:t>
            </a:r>
            <a:r>
              <a:rPr lang="en-IN" dirty="0"/>
              <a:t>:</a:t>
            </a:r>
          </a:p>
          <a:p>
            <a:r>
              <a:rPr lang="en-US" dirty="0"/>
              <a:t>○ Perform statistical analysis to identify correlations and trends.</a:t>
            </a:r>
          </a:p>
          <a:p>
            <a:r>
              <a:rPr lang="en-US" dirty="0"/>
              <a:t>○ Use tools like Python (Pandas, </a:t>
            </a:r>
            <a:r>
              <a:rPr lang="en-US" dirty="0" err="1"/>
              <a:t>Statsmodels</a:t>
            </a:r>
            <a:r>
              <a:rPr lang="en-US" dirty="0"/>
              <a:t>) for this purpose.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21BA0-BC7F-2F4A-B43E-F671119F8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150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51295-D130-3751-34B5-4D0C9935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9651D-1DCC-E080-01AC-93CF8030F5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/>
              <a:t>6. </a:t>
            </a:r>
            <a:r>
              <a:rPr lang="en-IN" b="1" dirty="0"/>
              <a:t>Predictive </a:t>
            </a:r>
            <a:r>
              <a:rPr lang="en-IN" b="1" dirty="0" err="1"/>
              <a:t>Modeling</a:t>
            </a:r>
            <a:r>
              <a:rPr lang="en-IN" dirty="0"/>
              <a:t>:</a:t>
            </a:r>
          </a:p>
          <a:p>
            <a:r>
              <a:rPr lang="en-US" dirty="0"/>
              <a:t>○ Build predictive models to forecast future motor vehicle sales.</a:t>
            </a:r>
          </a:p>
          <a:p>
            <a:r>
              <a:rPr lang="en-US" dirty="0"/>
              <a:t>○ Use machine learning algorithms like Linear Regression, ARIMA, or</a:t>
            </a:r>
          </a:p>
          <a:p>
            <a:r>
              <a:rPr lang="en-IN" dirty="0"/>
              <a:t>SARIMA.</a:t>
            </a:r>
          </a:p>
          <a:p>
            <a:r>
              <a:rPr lang="en-IN" dirty="0"/>
              <a:t>7. </a:t>
            </a:r>
            <a:r>
              <a:rPr lang="en-IN" b="1" dirty="0"/>
              <a:t>Reporting</a:t>
            </a:r>
            <a:r>
              <a:rPr lang="en-IN" dirty="0"/>
              <a:t>:</a:t>
            </a:r>
          </a:p>
          <a:p>
            <a:r>
              <a:rPr lang="en-US" dirty="0"/>
              <a:t>○ Summarize the findings in a comprehensive report.</a:t>
            </a:r>
          </a:p>
          <a:p>
            <a:r>
              <a:rPr lang="en-US" dirty="0"/>
              <a:t>○ Use visualizations to support the analysis and make the report more</a:t>
            </a:r>
          </a:p>
          <a:p>
            <a:r>
              <a:rPr lang="en-IN" dirty="0"/>
              <a:t>engaging.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4D15E-B5DB-79D3-C789-268D7ED3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563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13FF-F398-E848-C281-29957297D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Step-by-Step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24C6D-C8EA-564F-FEF7-BD2D47D436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/>
              <a:t>First few rows of dataset: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AA097-83D3-D74E-31BF-668272A6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05A921-262F-75F1-9D8C-B8E260DF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25" y="1483415"/>
            <a:ext cx="5805627" cy="194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94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0458C-0ECF-E159-132E-72C0CA9C5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</a:t>
            </a:r>
            <a:r>
              <a:rPr lang="en-IN" b="1" dirty="0"/>
              <a:t>Data Preparation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440C1-0D82-C595-A438-810B7E40A6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 Convert date column to datetime format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Check for Missing Values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Fill or Drop missing values if necessary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Aggregate Sales by month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B60E3-48B7-B524-1ADA-F3EF617A7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34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9381-FE13-C786-7572-25F7CD8D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b="1" dirty="0"/>
              <a:t>Exploratory Data Analysis (EDA)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EDF8F-A584-C405-9205-970B5EABC5F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/>
              <a:t>Plot Total Sales over Time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9AEEE-7FC8-363B-5EFE-28FAC354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FD672-E449-7A0F-1F0D-8BF95F4FD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75" y="1186435"/>
            <a:ext cx="10557025" cy="44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64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E2460-71D0-03A8-75FD-F5FD227A1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Over Time – Bar Chart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9C692F-7A78-6319-9A89-AE30AE4E9A9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87662" y="802481"/>
            <a:ext cx="5991225" cy="4476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B9D60-9862-FAF1-5BED-A2C4B941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755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8849-B231-DABF-1B06-C5F7EAF2C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by county level	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65F76E-5ACA-CA04-4D2F-FE00E281CE2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78828" y="706438"/>
            <a:ext cx="9408893" cy="46688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33E4E-944B-08F8-6C5D-9EB36BE9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975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8315D-B375-22C6-CAF1-9693295E5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</a:t>
            </a:r>
            <a:r>
              <a:rPr lang="en-IN" b="1" dirty="0"/>
              <a:t>Statistical Analysis (a. Correlation matrix]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8E959B-460E-C002-526A-37C0F9C09FB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205868" y="706438"/>
            <a:ext cx="5354813" cy="46688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0C268-DC4F-80B7-2F5C-EC10BB4D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2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33801-340C-654B-3B4D-02C283127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</a:t>
            </a:r>
            <a:r>
              <a:rPr lang="en-IN" b="1" dirty="0"/>
              <a:t>Predictive </a:t>
            </a:r>
            <a:r>
              <a:rPr lang="en-IN" b="1" dirty="0" err="1"/>
              <a:t>Modeling</a:t>
            </a:r>
            <a:r>
              <a:rPr lang="en-IN" b="1" dirty="0"/>
              <a:t> [using the additive model python]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CEB511-EECB-9CDD-B352-3EFAD6EAD4B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82900" y="802481"/>
            <a:ext cx="6000750" cy="4476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1B126-4264-26C5-496E-59E89F73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762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34FBA-E49A-7ECF-15A3-19444BF25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Arima model in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4AB79-27FA-984D-E118-4AF24E7B7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6C8EE1-2070-5BD2-6A4E-1138C73C0F1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C0DF29-0041-9F83-EFD6-C11760739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93" y="745641"/>
            <a:ext cx="7208321" cy="476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16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331D-24B3-5C9B-CE2D-0B4E2DD9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predictions [python]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7213E8-D198-DF25-1CE9-E83C131496B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260018" y="706438"/>
            <a:ext cx="7246513" cy="46688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CF847-96DE-A7DC-1329-72191F6E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18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67E2-C6D2-6B22-883E-414278C9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Mean squared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2FDC1-4CE5-4E25-6ABC-70F9391EEF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Mean Squared Error: 1.8408355258317576e+16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BAF76-9CDF-7409-7CCB-0AC2250B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383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17DB-D977-3C6D-336E-B9FB2E8DC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6. Reporting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E6BED1-3D58-59AE-A154-BB05F24E078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83625" y="706438"/>
            <a:ext cx="10109065" cy="46688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1046C-7185-5672-2E02-7713BB39C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240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F10CB-976D-EBB9-C988-D5381BB9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EDA using python matplotlib and seaborn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1DC09D-0572-4D55-CF5C-64D2809222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52395" y="944907"/>
            <a:ext cx="5057775" cy="37433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E7080-C54E-24F0-F1F4-525265C9A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318839-5FA7-840C-B3DD-D6D1FED14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871" y="944907"/>
            <a:ext cx="51435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09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7708-4724-0C6A-8859-1A46F84A1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USING python- matplotlib and seaborn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610118-E2CC-AA23-5407-770CC3AA0DF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311525" y="1169194"/>
            <a:ext cx="5143500" cy="37433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B4598-51A0-5591-0750-F75DDE59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964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EDDE-E3D6-1345-11A8-484E7D2E9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statistics		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E6B096-FCBE-C9A3-E2B3-897A0FD589F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969294" y="862643"/>
            <a:ext cx="7006265" cy="38991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AFD1D-67F9-EC55-23FB-95BAA6C7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465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3BA98-75D0-03E3-B16C-C6C1DB364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EDA(using python, analysis of dataset)		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791F3D-C688-E74E-2FD7-CDB196352F3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83625" y="996666"/>
            <a:ext cx="5057775" cy="37433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2408A-5B6E-589F-2F69-6793F01B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22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31C9FB-790F-DE87-4A25-709A8DF17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96665"/>
            <a:ext cx="51435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87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B1CB-40CB-1811-EFF9-D8F07E34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continued	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0036D4A-62B0-3170-9749-13884824D2E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83625" y="602196"/>
            <a:ext cx="4832655" cy="46688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C2438-995D-5798-7CAA-B6222BD0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23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CB982F-F323-0890-BAFD-68DCFEF56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197" y="845669"/>
            <a:ext cx="5796178" cy="421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76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9E4C1-E253-D4C8-2255-16C655E50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25" y="311397"/>
            <a:ext cx="10396882" cy="498470"/>
          </a:xfrm>
        </p:spPr>
        <p:txBody>
          <a:bodyPr/>
          <a:lstStyle/>
          <a:p>
            <a:r>
              <a:rPr lang="en-IN" dirty="0"/>
              <a:t>Sales over time plotted using python seaborn and matplotlib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3E08EE-9E52-A509-49FE-71EC617F83F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357483" y="969963"/>
            <a:ext cx="6672020" cy="46688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4A693-F6DE-C2C4-8821-2E029916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535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8CB5-3E42-7EF6-937D-E7FCFBB88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by quarter in box plot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1AF305-00F9-5305-AA2B-A340DEA7C52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328301" y="706438"/>
            <a:ext cx="7109947" cy="46688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686A1-594A-540C-871D-13931872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972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C1DF-6C39-30F1-F0D6-C9024174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Start- Sales by year and quarter-1	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6B6B64-EB30-42E5-60BE-549BF11EC32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425396" y="706438"/>
            <a:ext cx="6915758" cy="46688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31AFD-21E8-BF49-9C5D-31E372A7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84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B238-BA0D-5B8B-DFAE-B81E887F0F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5F270-7D38-37E7-4949-B991C5BCB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27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B07038-E0FF-C0A1-2FDD-238AEBEFA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252412"/>
            <a:ext cx="941070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100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A8436-DBE8-52BD-D6B8-3BCD8005DA5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1CB14-A8DA-BF56-1AB9-5BD00A07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28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EBA1C-CCF8-EACA-44EE-A325C1EE4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252412"/>
            <a:ext cx="941070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539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DB3D0-4F11-FDA0-1A3B-B2F17D7C11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F7E02-C635-0FE6-9303-8DC803CE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29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94A338-EC45-BAC2-A5A2-B4C7915EE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252412"/>
            <a:ext cx="9534525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997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0105C-E32E-3D41-2233-25289D7578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25035-B10E-8466-A50B-1363820A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30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01688-21E1-0AA2-A3DE-48B1BC945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528637"/>
            <a:ext cx="9534525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43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48235-A615-92AC-EE68-2AE76B567A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1550B-61B7-38FF-0831-8E55258B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31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AA0B3B-3A9D-7AAD-2113-3799BC301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528637"/>
            <a:ext cx="9534525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02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87F8-6C2B-81E1-198E-7525B0FF81C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7AE97-9B72-6F22-B1CA-9BB05EF9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32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ED9B30-AFE1-FDB0-07E0-3EAB8013E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528637"/>
            <a:ext cx="9410700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817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2A381-2033-52F8-7290-0B73E251785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A5E57-1E48-AE0B-9D29-E9C4D1447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33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71FE1B-075D-D6FF-6144-EDFDA96B8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50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385C-B550-3721-7C79-C46D3A99C6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19835-8119-A754-8DD3-55B1626B5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34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ADFAF3-29FB-1F9D-C28F-E760EB32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466725"/>
            <a:ext cx="9534525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72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26186-2F5C-A514-240C-FD2B5855CB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E659C-C319-8C9B-722D-A0A498CF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35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88A1BC-7080-84AB-409E-C4A27B6F4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931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99962-50E2-C199-8ED5-6EAF76E2BD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5EF1B-1B4B-7DAD-0330-A92644832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36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DFEC5A-A996-C80A-2B8C-7FC85C36F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008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72D11-397C-0134-D1C3-13D45DA416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140AC-B000-3461-46F9-FBC89EBB3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37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DFF390-F79B-6FFF-FD55-370374927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06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7EA72-3C3D-ABD9-9A86-7A6B69C6B1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5A959-FB34-6890-F3BD-7EE80F19E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38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C24F9B-6015-7967-FB7E-115974879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DD716-5270-902F-289B-C0676900BC8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F017C-8E6D-7865-22B1-FAFF32DF3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39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92D61D-DE57-2C1B-6457-4F6A51C89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86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72D73-F73F-F141-ECBE-FEA0AF7DD1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472ED-B9C3-294C-8A50-A907BAFD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40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9177B5-2A1B-C50E-8C19-7DF53D810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942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8B39E-0AE9-0D70-8C42-9E7169B13F8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AB1C0-A51E-EA7A-8693-F3049863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41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8698F7-12D4-02C4-3897-B3855036F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888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770B4CD-535A-4FF2-B700-8C40F0031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2AB5EEF-5DB7-47EA-BB55-DC7DAC8A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4" name="Rectangle 13">
              <a:extLst>
                <a:ext uri="{FF2B5EF4-FFF2-40B4-BE49-F238E27FC236}">
                  <a16:creationId xmlns:a16="http://schemas.microsoft.com/office/drawing/2014/main" id="{2D031218-C353-46BE-8BA0-03B929089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3018239-79C0-4159-AE08-A6113D9AD9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8094AE-62A3-4DD8-B617-758BE447B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ED2C424-5870-46BF-B77E-0C113783B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B75501-2C4C-44D8-A541-FA33D7EF1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of sales by county&#10;&#10;AI-generated content may be incorrect.">
            <a:extLst>
              <a:ext uri="{FF2B5EF4-FFF2-40B4-BE49-F238E27FC236}">
                <a16:creationId xmlns:a16="http://schemas.microsoft.com/office/drawing/2014/main" id="{69012D64-56F2-260D-BF46-58DF22C302B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/>
          <a:stretch>
            <a:fillRect/>
          </a:stretch>
        </p:blipFill>
        <p:spPr>
          <a:xfrm>
            <a:off x="1674519" y="643467"/>
            <a:ext cx="8842962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522F4-8177-2071-12D0-2CB658E84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6345169"/>
            <a:ext cx="907186" cy="4984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16C007-6EBF-4D7D-A9BF-157D71EC8975}" type="slidenum">
              <a:rPr lang="en-US" sz="18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42</a:t>
            </a:fld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7754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E9E42-74CB-A46A-F247-2C663BDCC8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3C548-58DE-A89B-FDE7-9BBBC1CB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43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C0B495-05C2-3A0E-F91D-4C6A57580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304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441F7-DC5E-DBB7-8EEA-B56217F2273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D581E-D1B4-30D4-98D1-8F8C9538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44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CB75B-6EE4-E52C-8E96-EB7832C4E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564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E027-C314-4FFD-A814-D725D256C6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ED408-6A9F-66AF-87F1-592EC9E6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45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B8C484-A888-F14C-7F8F-4C175BA4B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479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A0AE1-D68D-A3DB-E448-67A352FA19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93647-1DB5-5440-6B72-93B826930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46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7EEBEC-6AAA-D819-EF2E-DF0BEAC32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345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54809-CA11-F1E5-6A67-D58088B23CF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04AA8-4EE3-4CCE-76F8-0143CFDE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47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1DFBC9-D6F4-1B9F-6715-F9E4503F1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929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1C416-28C6-3183-72CE-7522E1BC8E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A4860-D4A9-5153-8BC0-B1E8933F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48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09AF5E-6419-1D2C-B661-153095216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604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8FC53-B032-ED77-12C6-D4F3992FBB8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CA205-E71D-0065-2DC8-82B0E796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49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8C3A5F-D658-1164-6ADD-54319A72E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4725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F3BBA-8F55-3D36-77CD-5206A8C7A4A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3F427-519E-B700-9C71-A4A96A59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50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A7FC16-C2B7-BB74-0520-C9691828F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8550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EDA3F-076F-6951-2EDE-2C17E8C97C7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5B788-0CE8-ADCF-0B45-76B41588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51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66BBFD-EA90-2372-9667-44C87644F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281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4B9B7-007A-5445-78DA-AB1EB50DD0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800D4-58A9-30E7-3EDC-DE7159E0B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52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C010C-C410-F05B-8FCE-11F7B8256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29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65878-44A0-A924-511D-2DE522DA3BE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484C4-C5B1-B13B-5DC8-04E295CA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53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A59038-7151-B2F2-D018-517AAE139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83978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666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311FD-07AB-0705-DDF2-59DACBF299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CD8AC-2F02-2BF7-4A37-7C79AA70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54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D2713-A5A9-AE85-E052-A0CC3FF38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4020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DE554-9CDF-6538-783A-C5692644BBD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C794F-4844-DC39-E6AE-27504182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55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4B32B3-8215-1EAD-EE46-D3028A25F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898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56691-1018-E9C4-B045-F0ED7EDD7EB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D3575-2829-201E-8B3F-6870C409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56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9C43E1-910F-345E-A91F-EC2C13D51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116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41C82-2E1B-28D8-837A-63F17E1A35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0DA1B-6F36-57EE-70E4-5B134C6B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C007-6EBF-4D7D-A9BF-157D71EC8975}" type="slidenum">
              <a:rPr lang="en-IN" smtClean="0"/>
              <a:pPr/>
              <a:t>57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4A2DA9-B68F-8233-612F-97560DFAA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725"/>
            <a:ext cx="94107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128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123</TotalTime>
  <Words>656</Words>
  <Application>Microsoft Office PowerPoint</Application>
  <PresentationFormat>Widescreen</PresentationFormat>
  <Paragraphs>137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Aptos</vt:lpstr>
      <vt:lpstr>Arial</vt:lpstr>
      <vt:lpstr>Calibri</vt:lpstr>
      <vt:lpstr>Impact</vt:lpstr>
      <vt:lpstr>Wingdings</vt:lpstr>
      <vt:lpstr>Main Event</vt:lpstr>
      <vt:lpstr>Colorado Motor Vehicle Sales Report</vt:lpstr>
      <vt:lpstr>About Dataset</vt:lpstr>
      <vt:lpstr>Columns</vt:lpstr>
      <vt:lpstr>Use Cases</vt:lpstr>
      <vt:lpstr>Project Overview</vt:lpstr>
      <vt:lpstr>PROJECT OVERVIEW CONTINUED</vt:lpstr>
      <vt:lpstr>PROJECT OVERVIEW CONTINUED</vt:lpstr>
      <vt:lpstr>Step-by-Step Implementation</vt:lpstr>
      <vt:lpstr>2. Data Preparation:</vt:lpstr>
      <vt:lpstr>3. Exploratory Data Analysis (EDA):</vt:lpstr>
      <vt:lpstr>Sales Over Time – Bar Chart</vt:lpstr>
      <vt:lpstr>Sales by county level </vt:lpstr>
      <vt:lpstr>4. Statistical Analysis (a. Correlation matrix]</vt:lpstr>
      <vt:lpstr>5. Predictive Modeling [using the additive model python]</vt:lpstr>
      <vt:lpstr>Arima model in python</vt:lpstr>
      <vt:lpstr>Sales predictions [python]</vt:lpstr>
      <vt:lpstr>Mean squared error</vt:lpstr>
      <vt:lpstr>6. Reporting</vt:lpstr>
      <vt:lpstr>EDA using python matplotlib and seaborn</vt:lpstr>
      <vt:lpstr>EDA USING python- matplotlib and seaborn</vt:lpstr>
      <vt:lpstr>Summary statistics  </vt:lpstr>
      <vt:lpstr>EDA(using python, analysis of dataset)  </vt:lpstr>
      <vt:lpstr>Eda continued </vt:lpstr>
      <vt:lpstr>Sales over time plotted using python seaborn and matplotlib</vt:lpstr>
      <vt:lpstr>Sales by quarter in box plot</vt:lpstr>
      <vt:lpstr>Start- Sales by year and quarter-1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Madhumita Patro</dc:creator>
  <cp:lastModifiedBy>Madhumita Patro</cp:lastModifiedBy>
  <cp:revision>22</cp:revision>
  <dcterms:created xsi:type="dcterms:W3CDTF">2025-10-11T20:11:50Z</dcterms:created>
  <dcterms:modified xsi:type="dcterms:W3CDTF">2025-10-11T22:14:54Z</dcterms:modified>
</cp:coreProperties>
</file>