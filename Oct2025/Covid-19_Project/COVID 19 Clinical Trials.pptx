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28000-8613-4481-A6AA-F796DC86111E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FBEEC-B4CB-4535-AB4F-E8034E97A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69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A94790-ABEA-4260-B018-D201382A7FD4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94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COVID-19 </a:t>
            </a:r>
            <a:r>
              <a:rPr lang="en-US" dirty="0" err="1"/>
              <a:t>Cllinical</a:t>
            </a:r>
            <a:r>
              <a:rPr lang="en-US" dirty="0"/>
              <a:t> Trials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D3C9-678A-49E8-83F2-89ADFCF72D97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1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3B20E2-D5C4-4420-846A-95BA17D598DF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24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2B3CF100-05E1-43D4-95BA-BD8D846E4336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3900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A7A3D49-6FD6-4C5C-A127-82B9F5210CE2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768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F1D313-FE2A-4BE5-94FF-F93741D24263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37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F9DA20-D037-41CC-839E-B47734127047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0C853B-5BE0-4123-91D1-A9ADA65F871D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49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D9389E-3786-47C3-BE81-BE99ED90F51F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38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95F6F6-BC95-492D-A1A5-C277D48CA19E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58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75279E-D586-4E4D-87D8-D595A82DF63B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53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931BDDC-9ADD-45DD-B478-30EF1CA84485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1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343BCB-8B87-44B7-B114-1544AC2B1D0C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22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0D92-E201-44CF-9A3A-A83CB3C39E0D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35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0D1-7E4E-4CDF-B514-B6578FB19B81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2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D10-1EB6-4019-A74E-E748E4E4070B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19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785F-3A7F-4385-9B98-E2B532F2109E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88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2AB46D-CDC4-4EB4-92AE-BCCE25F18A83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70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3FE0-957A-4B03-840F-3D7FBFBA69C6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731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1E4CC0-F089-4904-B976-629F7334356A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01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C48D-19DF-4FDA-B389-17C6B982DB96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7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FD1FA28-46F9-4B93-B66F-D5BB6FE9C803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03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7B858B9-98AD-4D5F-9870-1F428353DD41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77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97334-C8B8-4817-BCEA-6ADABA7BF41F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885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4472855-8B69-4D2B-83A9-11AE98D152D5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629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D626D45-5123-4DB3-9A15-5BEFA31B9EB0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547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7B59A99-F1FE-4DA8-B9E1-B5D7D32B7E95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770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4CEE41-CF83-4D5B-8930-25A5155021B1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358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A88C-6E0E-454D-84EE-31F892AE5EC4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610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33FA-08BC-468E-9A55-606F12584D36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003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FD5D-1DBC-40CF-8187-C2307BFC5424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016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72B337-D241-42F9-A376-6904E0BCF708}" type="datetime2">
              <a:rPr lang="en-US" smtClean="0"/>
              <a:t>Sunday, October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053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0D7604-FB93-4BB5-9B01-7382A4449087}" type="datetime2">
              <a:rPr lang="en-US" smtClean="0"/>
              <a:t>Sunday, October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51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25EFC0A-FD0B-4275-AF34-83F83D73A772}" type="datetime2">
              <a:rPr lang="en-US" smtClean="0"/>
              <a:t>Sunday, October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121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EE2275-5A89-473F-838F-1B65831D9FE3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423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8FB0-5D2B-45F9-B852-52EC2C4FFD9C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351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3B3B-7B37-403A-93E5-009B10BEA738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270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5F3C53-9CA9-4DF9-AFEA-475373BD8E66}" type="datetime2">
              <a:rPr lang="en-US" smtClean="0"/>
              <a:t>Sunday, October 12,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487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87016C-8947-4F61-9B69-99E19702CD13}" type="datetime2">
              <a:rPr lang="en-US" smtClean="0"/>
              <a:t>Sunday, October 12,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613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8A24A7-F2F3-4237-B567-0CBBA564C77A}" type="datetime2">
              <a:rPr lang="en-US" smtClean="0"/>
              <a:t>Sunday, October 12,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285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1263-FE28-438A-A34B-5B99015D00FD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95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04F17-3AE5-43AC-A2D6-0BB6CA600E4F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52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1D1B-875F-4C79-B925-A0B908CF1AFB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41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1556-F1B6-446D-8F6A-E307BCFE0864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431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79B1-712A-4A42-A423-9C0B55844CFC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18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1A9FD-B68B-4768-8CCC-6B06D492D60B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003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9A4999-8BB0-40E0-B440-F4E302B04A6B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9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BC1443-A84C-4388-B652-789F1B34AE07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61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278EDC0E-5BA4-4E7A-B487-AB375730E289}" type="datetime2">
              <a:rPr lang="en-US" smtClean="0"/>
              <a:t>Sunday, October 12,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8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61" r:id="rId32"/>
    <p:sldLayoutId id="2147483893" r:id="rId33"/>
    <p:sldLayoutId id="2147483894" r:id="rId34"/>
    <p:sldLayoutId id="2147483895" r:id="rId35"/>
    <p:sldLayoutId id="2147483896" r:id="rId36"/>
    <p:sldLayoutId id="2147483897" r:id="rId37"/>
    <p:sldLayoutId id="2147483898" r:id="rId38"/>
    <p:sldLayoutId id="2147483899" r:id="rId39"/>
    <p:sldLayoutId id="2147483907" r:id="rId40"/>
    <p:sldLayoutId id="2147483900" r:id="rId41"/>
    <p:sldLayoutId id="2147483901" r:id="rId42"/>
    <p:sldLayoutId id="2147483902" r:id="rId43"/>
    <p:sldLayoutId id="2147483903" r:id="rId44"/>
    <p:sldLayoutId id="2147483904" r:id="rId45"/>
    <p:sldLayoutId id="2147483905" r:id="rId46"/>
    <p:sldLayoutId id="2147483906" r:id="rId47"/>
    <p:sldLayoutId id="2147483860" r:id="rId4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41C74-526B-E0D1-EF76-BC073FE95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anchor="ctr">
            <a:normAutofit/>
          </a:bodyPr>
          <a:lstStyle/>
          <a:p>
            <a:r>
              <a:rPr lang="en-IN" dirty="0"/>
              <a:t>COVID-19 TRIALS PROJECT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3267D-3165-88BD-8AE0-78BFC2444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572000"/>
            <a:ext cx="5715000" cy="2087592"/>
          </a:xfrm>
        </p:spPr>
        <p:txBody>
          <a:bodyPr anchor="ctr">
            <a:normAutofit/>
          </a:bodyPr>
          <a:lstStyle/>
          <a:p>
            <a:r>
              <a:rPr lang="en-US" dirty="0"/>
              <a:t>The objective is to explore the dataset to gain insights into the characteristics of COVID-19 clinical trials, such as their status, phases, study designs, and </a:t>
            </a:r>
            <a:r>
              <a:rPr lang="en-IN" dirty="0"/>
              <a:t>demographics.</a:t>
            </a:r>
          </a:p>
        </p:txBody>
      </p:sp>
      <p:pic>
        <p:nvPicPr>
          <p:cNvPr id="6" name="Picture Placeholder 5" descr="A close-up of a virus">
            <a:extLst>
              <a:ext uri="{FF2B5EF4-FFF2-40B4-BE49-F238E27FC236}">
                <a16:creationId xmlns:a16="http://schemas.microsoft.com/office/drawing/2014/main" id="{B4657FFA-9AFE-3BCE-4DA0-62EA50846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1" r="27551"/>
          <a:stretch>
            <a:fillRect/>
          </a:stretch>
        </p:blipFill>
        <p:spPr>
          <a:xfrm>
            <a:off x="0" y="0"/>
            <a:ext cx="5067300" cy="6858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A03E1-8E57-35BD-6E27-3C286A319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22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FE35-FB5A-1264-5BFE-D46D92C3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450AB-68CD-1B21-E21B-94FFC0E4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ClinicalTrials.gov is a database of privately and publicly funded clinical studies conducted around the world.</a:t>
            </a:r>
          </a:p>
          <a:p>
            <a:r>
              <a:rPr lang="en-US" sz="2400" dirty="0"/>
              <a:t>It is maintained by the National Institute of Health. </a:t>
            </a:r>
          </a:p>
          <a:p>
            <a:r>
              <a:rPr lang="en-US" sz="2400" dirty="0"/>
              <a:t>All data is publicly available and the site provides a direct download feature which makes it super easy to use relevant data for analysis.</a:t>
            </a:r>
          </a:p>
          <a:p>
            <a:r>
              <a:rPr lang="en-US" sz="2400" dirty="0"/>
              <a:t>This dataset consists of clinical trials related to COVID 19 studies presented on the site.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967AC-73E9-34FE-439B-2E0ED622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181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5753-C6F7-65E9-EBCE-68D516F4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AE39D-DFE3-BC48-24E7-30F3FF8C3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52A9B-4DAB-5BBE-0EFB-424F6CE4C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7955B-9943-AC94-223C-2D06EC080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563624"/>
            <a:ext cx="764490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9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538A-1F0D-B54D-C303-CFF18E8B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3434B-F74A-DA39-CAE3-E1148E608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Status Distribution</a:t>
            </a:r>
            <a:r>
              <a:rPr lang="en-US" dirty="0"/>
              <a:t>: Analyze the status of clinical trials    </a:t>
            </a:r>
            <a:r>
              <a:rPr lang="en-US" b="1" dirty="0"/>
              <a:t>Phase Distribution</a:t>
            </a:r>
            <a:r>
              <a:rPr lang="en-US" dirty="0"/>
              <a:t>: Understand the							distribution of trial phases.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F4147-F2FE-78D4-8880-24F82E1B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CF641-167A-BC9D-109F-D24B6DE4D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08" y="2053086"/>
            <a:ext cx="5334000" cy="43385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68B3B2-19B9-D82D-E67F-40AE080ED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408" y="2294625"/>
            <a:ext cx="5334000" cy="409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1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96F3-BF7D-D762-3047-6EDB1805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 Group Distribution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E38159-E40C-6732-0700-9F6E18A9F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6253" y="1563688"/>
            <a:ext cx="7179795" cy="4572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427F9-8160-56CE-D18F-6E3E2958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0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A5DA-1A55-AA77-8846-831AEF13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Phases Vs Status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BCACD9-1DF9-E390-0E17-6EB69DC82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272" y="1580941"/>
            <a:ext cx="5486400" cy="4572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DFB84-5EDE-C7D7-96A9-E18EF9D7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2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850B-A48D-08A8-568F-6CDD849C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A3134-A426-EDCD-5EC5-F0BB0D3A7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D7871-A818-0C23-D8C3-5C2737BB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715CE9-CC3A-7225-C960-19205EA8D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58"/>
            <a:ext cx="12192000" cy="662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3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0C10-0E7E-2FA7-17E9-B444BB00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B23B-BA56-7B8C-1C4B-94DBC6452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BD596-21EC-0E77-00E0-731F1F0A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A60782-1CB3-04B9-BD8B-CC81D638E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" y="31116"/>
            <a:ext cx="10125456" cy="630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9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71D6-8F44-5401-4D18-B7466E9A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D1FB5-7B90-3EBC-E71C-E4F830839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B7CBE-A8E0-C7F8-2E57-A3FEE2F0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782226-102F-9DF8-5001-B8D9624B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30" y="347471"/>
            <a:ext cx="11138340" cy="598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9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AAEB-CF85-91A2-76C1-8F568D94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D724-DB6E-FFD5-EFE2-55113F65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44AD7-4FB3-E165-E69F-62960111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93DE2-5F53-A945-6244-3DBFA57C5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70552"/>
            <a:ext cx="11325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8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D6E0-4BB9-6F4B-1CA7-D15535D7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19310-DC00-2741-C6A9-DEB96A71A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5658928"/>
            <a:ext cx="9985248" cy="796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As shown the percentage of missing data in Results First Posted is 99.3% and Study Documents is 96.8%, so it's impossible to impute them without </a:t>
            </a:r>
            <a:r>
              <a:rPr lang="en-US" b="1" dirty="0" err="1"/>
              <a:t>destoying</a:t>
            </a:r>
            <a:r>
              <a:rPr lang="en-US" b="1" dirty="0"/>
              <a:t> our </a:t>
            </a:r>
            <a:r>
              <a:rPr lang="en-IN" b="1" dirty="0"/>
              <a:t>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F7E2A-C5CE-BE24-3B3A-5723D009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DC0864-29C0-EA72-F488-1F10A76F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89" y="0"/>
            <a:ext cx="10198737" cy="565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4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65A4-43BF-C35D-E055-C57AC57A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Countries Vs Cases Trials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0F9B5F-0124-714E-D54D-94992D89E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272" y="1307592"/>
            <a:ext cx="3742513" cy="51480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5E8A3-7A41-DF7D-9565-30B09B53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8EFC38-D914-D15A-D29F-28734F7B0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050" y="1307592"/>
            <a:ext cx="4287477" cy="514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28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BBB8-F3F2-D60A-1184-968F7714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 between null values in Acronym and Countries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2BA8AF-357C-32A2-736E-537537094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272" y="1307592"/>
            <a:ext cx="4877831" cy="51480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EFE46-47CA-9E21-4FC7-1DE364FD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B04C88-27B2-F897-0273-BA21729F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899" y="1307592"/>
            <a:ext cx="5224779" cy="271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51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1362-B4A7-BF3C-02BE-B31858EA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2CB85-13D6-BD29-19EA-67E19ECCE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D30A5-E0B1-EE61-18AE-2633E2B5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5EEECC-0255-30BB-3C90-69862CB72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94" y="0"/>
            <a:ext cx="10278833" cy="64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00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D5D4-175E-C516-A8C3-01CE02DE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6C81C-AADC-39E5-71B3-48A3AD626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03D3C-3E90-4D40-C7EF-2353245C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2F86BD-AFB5-3A6F-DBB0-BC908ED79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177"/>
            <a:ext cx="12192000" cy="644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2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0198-7A24-878B-163B-F08C4D4F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38094-EA71-549F-0098-25FF61850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C6807-CA7A-30DD-8F12-EFBDC36C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310817-8B35-A92D-DB03-003B0F453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1277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49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E5FA-A6B8-394F-67DD-EFA57D35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4C2D1-9FBB-812C-793B-88C52EBF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86F34-B275-6409-BD9C-2FAADAAC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3222F2-8227-1A88-1EEE-96893357C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1277600" cy="586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7103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204</Words>
  <Application>Microsoft Office PowerPoint</Application>
  <PresentationFormat>Widescreen</PresentationFormat>
  <Paragraphs>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Avenir Next LT Pro</vt:lpstr>
      <vt:lpstr>Avenir Next LT Pro Light</vt:lpstr>
      <vt:lpstr>Neue Haas Grotesk Text Pro</vt:lpstr>
      <vt:lpstr>GradientRise</vt:lpstr>
      <vt:lpstr>COVID-19 TRIALS PROJECT REPORT</vt:lpstr>
      <vt:lpstr>ABOUT PROJECT</vt:lpstr>
      <vt:lpstr>THE HEADS</vt:lpstr>
      <vt:lpstr>Univariate Analysis</vt:lpstr>
      <vt:lpstr>Age Group Distribution</vt:lpstr>
      <vt:lpstr>Phases Vs Status Analysis</vt:lpstr>
      <vt:lpstr>PowerPoint Presentation</vt:lpstr>
      <vt:lpstr>PowerPoint Presentation</vt:lpstr>
      <vt:lpstr>PowerPoint Presentation</vt:lpstr>
      <vt:lpstr>s</vt:lpstr>
      <vt:lpstr>PowerPoint Presentation</vt:lpstr>
      <vt:lpstr>Countries Vs Cases Trials</vt:lpstr>
      <vt:lpstr>Relation between null values in Acronym and Countries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Madhumita Patro</dc:creator>
  <cp:lastModifiedBy>Madhumita Patro</cp:lastModifiedBy>
  <cp:revision>20</cp:revision>
  <dcterms:created xsi:type="dcterms:W3CDTF">2025-10-12T12:30:51Z</dcterms:created>
  <dcterms:modified xsi:type="dcterms:W3CDTF">2025-10-12T16:52:53Z</dcterms:modified>
</cp:coreProperties>
</file>